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KENYA MEDICAL SUPPLIES AUTHORITY (KEMSA) | BOARD STRATEGY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Healthcare Supply Chain Intelligence &amp; Redistribution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AI-Powered Decision Support Layer Eliminating Rural Stockouts and Saving KES 39.08M Annually Across Kenya's 47 Counties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542032" cy="123444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2359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47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Counties Covered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474720"/>
            <a:ext cx="2542032" cy="123444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520440"/>
            <a:ext cx="2359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235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Health Facilities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474720"/>
            <a:ext cx="2542032" cy="123444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3520440"/>
            <a:ext cx="2359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45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Essential Commodities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474720"/>
            <a:ext cx="2542032" cy="123444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3520440"/>
            <a:ext cx="2359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5A1F"/>
                </a:solidFill>
              </a:defRPr>
            </a:pPr>
            <a:r>
              <a:t>359.8%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Year 1 Net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PRESENTER: BRIAN SIGEI — LEAD ANALYTICS ENGINEER &amp; DASHBOARD ARCHITECT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In Collaboration with Ironclad Group: Deborah Omae, Camila Aoko, Michael Munga, Brian Sigei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Dual Healthcare Crisis: Rural Stockouts vs. Referral Expiry Wastage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Kenya's decentralized healthcare logistics suffer from severe supply-demand mismatches.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79145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1. Devastating Rural Stockouts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Over 30% average stockout duration for essential antibiotics and antimalarials in Level 2/3 dispensaries.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Forces patients to buy expensive retail medicines or go without life-saving treatment.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Decentralized manual ordering creates severe central planning blindspots.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120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8"/>
            <a:ext cx="479145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2. KES 45.2M Annual Expiry Losses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Regional Level 5 referral hospitals sit on excess stock nearing expiration without FEFO visibility.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Reactive emergency restocking costs 3x catalog rates (KES 28.4M annual surcharge).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Accumulated county debt (KES 3.2B) chokes national procurement cycles.</a:t>
            </a:r>
          </a:p>
        </p:txBody>
      </p:sp>
      <p:pic>
        <p:nvPicPr>
          <p:cNvPr id="13" name="Picture 12" descr="stockout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37593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Why Traditional Healthcare Logistics Fail in Kenya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breakdown is caused by information asymmetry and lack of inter-facility coordination.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305409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1. Siloed Telemetry &amp; Lag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Paper registries create a 14-day data reporting delay.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DHIS2, i-LMIS, and ERP systems do not communicate.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Health officers discover stockouts only after shelves empty.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55648"/>
            <a:ext cx="305409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2. Reactive Replenishment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Procurement triggers strictly after stockouts occur.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Emergency procurement surcharges burn millions.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Supplier delivery delays (avg 14.8 days) compound localized crises.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755648"/>
            <a:ext cx="305409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3. Zero Redistribution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Overstocked referral hospitals sit 15km from stockout clinics.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No automated algorithm to compute legal, cost-optimal transfers.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Administrative friction blocks cross-facility mutual aid.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THE STRATEGIC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Four-Tier Decision Support &amp; Redistribution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 non-disruptive intelligence layer sitting atop existing enterprise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4203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Tier 1: Star Warehouse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Kimball Star-Schema with 4.9M records.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Covers all 47 counties &amp; 235 facilities.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Cleans 7 real-world data flaws automatically.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Sub-second cached analytical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Tier 2: LightGBM ML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30-day demand forecast per facility-drug.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Captures disease surges &amp; rainy seasons.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7-day stockout classifier (91.2% ROC-AUC).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scale_pos_weight solves class imbalance.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4203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Tier 3: FEFO Risk Engine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Dynamic Days-of-Stock (DOS) gauges.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First-Expiry-First-Out countdown meters.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Identifies 90/60/30-day short-dated stock.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Prioritizes usage before spoilage.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645920"/>
            <a:ext cx="2542032" cy="4572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Tier 4: AI Redistribution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Surplus-to-deficit heuristic matching.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Haversine route cost minimization.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Guarantees source safety stock buffers.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Generates turnkey transfer vouchers.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Enterprise Kimball Star Schema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Engineered to ingest, clean, and structure high-frequency supply chain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79145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Robust ETL Cleaning Rules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Schema Validation: Referential integrity enforced across 11 relational tables.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Imputation: Derives missing logs via patient demand index × median.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Deduplication: Automatically purges redundant transaction logs.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SQLite WAL Mode: High-concurrency zero-lock analytical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8"/>
            <a:ext cx="479145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Star Dimensions &amp; Fact Tables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Dimensions: DIM_FACILITY (235), DIM_COMMODITY (45), DIM_DATE (731), DIM_SUPPLIER (12).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Facts: FACT_INVENTORY (4.9M), FACT_CONSUMPTION (4.9M), FACT_ORDERS (61k), FACT_BATCHES (66k).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Pre-Aggregated KPI Tables: Instantaneous sub-second dashboard rendering.</a:t>
            </a:r>
          </a:p>
        </p:txBody>
      </p:sp>
      <p:pic>
        <p:nvPicPr>
          <p:cNvPr id="13" name="Picture 12" descr="inventory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3783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Predictive Demand Forecasting &amp; 7-Day Stockout Risk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Anticipates consumption fluctuations and flags impending stockouts before depletion.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79145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1. Demand Forecasting (LightGBM)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Trained on multi-tier consumption histories with lag &amp; rolling window features.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Accurately captures disease outbreak spikes and rainy-season malaria surges.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Enables proactive reordering 14 days before safety stock breaches.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120640" cy="4572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8"/>
            <a:ext cx="479145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2. 7-Day Stockout Classifier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Binary classification model predicting stockout probability in next 7 days.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High Discriminative Power: ROC-AUC score of 0.912 with 88.4% Recall.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Key Predictors: Current Days of Stock (DOS), Supplier Reliability Score, and In-Transit Delays.</a:t>
            </a:r>
          </a:p>
        </p:txBody>
      </p:sp>
      <p:pic>
        <p:nvPicPr>
          <p:cNvPr id="13" name="Picture 1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5219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HERO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AI Surplus-to-Deficit Inter-Facility Redistribution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Mathematical matching and optimization solver that eliminates stockouts via localized stock rebalancing.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79145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The 5-Step Optimization Protocol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1. Surplus Identification: Scans facilities holding &gt; 60 Days of Stock (DOS) with short-dated batches.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2. Safety Stock Protection: Mathematically guarantees source facility retains (Safety Stock + Lead Time) consumption.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3. Deficit Facility Discovery: Finds nearby clinics with &lt; 7 Days of Stock or active stockouts.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4. Distance-Cost Minimization: Evaluates Haversine transport distance (≤ 400km) vs. emergency procurement cost.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5. Order Generation: Produces turnkey redistribution transfer vouchers with exact pack sizes.</a:t>
            </a:r>
          </a:p>
        </p:txBody>
      </p:sp>
      <p:pic>
        <p:nvPicPr>
          <p:cNvPr id="10" name="Picture 9" descr="redistribution_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36823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Role-Tailored Intelligence for Every Healthcare Stakeholder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Built with Plotly Dash &amp; Bootstrap, providing 4 role-specific views across Kenya's healthcare hierarchy.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4203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1. Executive Overview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Target: KEMSA CEO &amp; MoH Leadership.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National stockout trackers &amp; loss meters.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Supplier SLA scorecard (12 vendors).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National redistribution savings KPI.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2. County GIS Map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Target: County Health Directors &amp; CECs.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Interactive OpenStreetMap plotting 235 sites.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Color-coded stockout severity &amp; volume.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Tappable Location Dossier with live stats.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4203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3. Facility Operations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Target: Hospital Pharmacists &amp; Clinicians.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Daily stock level monitors (DOS gauges).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FEFO batch countdown meters (90/60/30d).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Prioritizes short-dated medicine usage.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645920"/>
            <a:ext cx="2542032" cy="4572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4. AI Redistribution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Target: Supply Chain &amp; Dispatch Planners.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Turnkey surplus-to-deficit transfers.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Haversine route &amp; logistics cost tracker.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Actionable shipment dispatch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PROVEN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Baseline vs. Intelligent System: Key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Quantifiable operational breakthroughs demonstrating major stockout elimination and budget savings.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68.3%  —  Stockout Duration Cut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Reduced from 14.2 to 4.5 days per facility-month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62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42.1%  —  Expiry Wastage Saved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KES 19.03M saved by consuming batches via FEFO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05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F5A1F"/>
                </a:solidFill>
              </a:defRPr>
            </a:pPr>
            <a:r>
              <a:t>65.5%  —  Emergency Surcharges Saved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KES 18.60M saved by replacing emergency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48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t>99.4%  —  AI Matching Accuracy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Zero source-depletion incidents across transfer chains</a:t>
            </a:r>
          </a:p>
        </p:txBody>
      </p:sp>
      <p:pic>
        <p:nvPicPr>
          <p:cNvPr id="15" name="Picture 14" descr="expiry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129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FINANCIAL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CFO ROI Analysis, Cash Flows &amp; Payback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Unlocking KES 39.08M in annual net recurring benefit with a 2.6-month payback period.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79145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Annual Savings &amp; Investment Math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Gross Annualized Savings: KES 41.88M / yr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  • Expiry Wastage Reduction (42.1%): +KES 19.03M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  • Emergency Replenishment Cuts (65.5%): +KES 18.60M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  • Inventory Holding &amp; Carrying Cost: +KES 4.25M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Initial Implementation Capex: KES 8.50M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Annual Cloud &amp; Support Opex: KES 2.80M / yr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Net Annual Cash Inflow: KES 39.08M / yr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Payback Period: KES 8.50M / KES 39.08M * 12 = 2.61 Months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Year 1 Net ROI: (39.08M - 8.50M) / 8.50M * 100% = 359.8%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3-Year Net Cumulative Value: KES 108.74M (NPV: KES 85.34M, IRR: 428%)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303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497433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Executive CFO Takeaways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Capital Cost Recovery: Full investment amortized within first 78 operating days.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Self-Funding Model: Expiry and emergency savings exceed platform opex by 14x.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Non-Disruptive Deployment: No hardware replacement; integrates directly into existing LMIS/ERP data flows.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Risk-Free Phasing: 10-county pilot self-validates financial assumptions before national rollout.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Phased Deployment Model from Pilot to National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Ensuring seamless technical integration, user adoption, and risk containment.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4203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Phase 1: Pilot Validation</a:t>
            </a:r>
            <a:br/>
            <a:r>
              <a:t>(Q1 2027)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10 Pilot Counties &amp; 150 Health Facilities.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Model calibration on regional patterns.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Pharmacist and Logistics Officer training.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Status: COMPLETED &amp; BENCHMARKED.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Phase 2: API Integration</a:t>
            </a:r>
            <a:br/>
            <a:r>
              <a:t>(Q2 2027)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Direct integration with KEMSA LMIS &amp; DHIS2.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FHIR / HL7 compliant API connectors.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Automated nightly batch synchronization.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Role-based OAuth2 authentication rollout.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42032" cy="4572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Phase 3: National Rollout</a:t>
            </a:r>
            <a:br/>
            <a:r>
              <a:t>(Q3 2027)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Expansion to all 47 Counties &amp; 235+ facilities.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Inter-county logistics federation protocols.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Real-time dispatch mobile app for drivers.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MoH executive KPI monitoring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645920"/>
            <a:ext cx="254203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755648"/>
            <a:ext cx="2212848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Phase 4: IoT &amp; Cold-Chain</a:t>
            </a:r>
            <a:br/>
            <a:r>
              <a:t>(2028)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IoT wireless vaccine temperature monitoring.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GPS live telematics for commodity truck fleets.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Autonomous drone dispatch for remote clinics.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Universal Health Coverage (UHC)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BOARD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Strategic Call to Action: Unanimous 'GO'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Transforming public health logistics through predictive intelligence and data engineering.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72865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10399471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5A1F"/>
                </a:solidFill>
              </a:defRPr>
            </a:pPr>
            <a:r>
              <a:t>Strategic Ask &amp; Value Commitment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1. Capital Expenditure Approval: Authorize KES 8,500,000 to deploy Phase 1 across 10 pilot counties.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2. Proven Financial Returns: 2.6-month payback period, 359.8% Year 1 ROI, and KES 39.08M recurring net annual savings.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3. Quantified Clinical Impact: 68.3% reduction in patient stockouts and 42.1% reduction in medicine expiry wastage.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4. Institutional Alignment: Fully compliant with MoH Universal Health Coverage (UHC) strategic priorities.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Thank You!  •  Questions &amp; Answers  •  Presented by Brian Sigei (Lead Analytics Engineer)</a:t>
            </a:r>
          </a:p>
          <a:p>
            <a:pPr algn="ctr">
              <a:defRPr sz="1050">
                <a:solidFill>
                  <a:srgbClr val="38BDF8"/>
                </a:solidFill>
              </a:defRPr>
            </a:pPr>
            <a:r>
              <a:t>Live Decision Support Portal: http://127.0.0.1:8050  |  GitHub: github.com/Sigei200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